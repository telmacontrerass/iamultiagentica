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2743200"/>
            <a:ext cx="6949440" cy="69494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3657600"/>
            <a:ext cx="5760720" cy="5760720"/>
          </a:xfrm>
          <a:prstGeom prst="ellipse">
            <a:avLst/>
          </a:prstGeom>
          <a:solidFill>
            <a:srgbClr val="E9B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0020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1A1A1A"/>
                </a:solidFill>
                <a:latin typeface="Calibri"/>
              </a:rPr>
              <a:t>Florentino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1">
                <a:solidFill>
                  <a:srgbClr val="E8A81B"/>
                </a:solidFill>
                <a:latin typeface="Calibri"/>
              </a:rPr>
              <a:t>IA agéntica en local para docencia e investigación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66160"/>
            <a:ext cx="4617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A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4617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Programa   ·   ¿Qué puedes hacer con Claude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Jorge Alonso Civantos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Telma Contreras Sáenz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Clara Lucena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Alberto Rodríguez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Pablo Sánchez Martínez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La Cátedra de Industria Inteligente y el CI2LAB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074920" cy="1874519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Cátedra de Industria Inteligente</a:t>
            </a:r>
          </a:p>
        </p:txBody>
      </p:sp>
      <p:pic>
        <p:nvPicPr>
          <p:cNvPr id="10" name="Picture 9" descr="p2_x40_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2084831"/>
            <a:ext cx="33832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Impulsar la transformación digital de la industria: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2555748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2487168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Investigación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2816352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2747772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Formación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3076956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6272" y="3008376"/>
            <a:ext cx="32186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Divulgación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80"/>
            <a:ext cx="5074920" cy="219456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CI2LAB</a:t>
            </a:r>
          </a:p>
        </p:txBody>
      </p:sp>
      <p:pic>
        <p:nvPicPr>
          <p:cNvPr id="20" name="Picture 19" descr="p7_x132_956x5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554480" cy="87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39" y="4297680"/>
            <a:ext cx="2926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Laboratorio de investigación de la Cátedra: estudiantes de Comillas resuelven retos reales de las empresas patrono (Kearny, Repsol, Horse, Enagás, Endesa…).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48132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1B"/>
                </a:solidFill>
                <a:latin typeface="Calibri"/>
              </a:rPr>
              <a:t>Problema que afronta el proyecto — Reto 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1920240"/>
            <a:ext cx="5852160" cy="388620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72200" y="2194560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1762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La manera de ofrecer los modelos está cambiando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26898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20040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El acceso a los modelos es barato.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Las empresas de IA, muy capitalizadas, subvencionan el precio para ganar mercado.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413766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0690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La forma de facturación cambiará.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Cuando se adapte el modelo de cobro, la factura por uso intensivo puede dispararse.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500634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93776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Se depende de un proveedor externo.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Sujeto a cambios de modelo, límites de uso o un servicio retirado.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¿Qué es Florentino?</a:t>
            </a:r>
          </a:p>
        </p:txBody>
      </p:sp>
      <p:pic>
        <p:nvPicPr>
          <p:cNvPr id="8" name="Picture 7" descr="p3_x53_1440x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17320"/>
            <a:ext cx="8641080" cy="3600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En definitiva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Es una alternativa </a:t>
            </a:r>
            <a:r>
              <a:rPr sz="1450" b="1" i="1">
                <a:solidFill>
                  <a:srgbClr val="003D7C"/>
                </a:solidFill>
                <a:latin typeface="Calibri"/>
              </a:rPr>
              <a:t>open source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que replica el lazo agéntico de Claude Code, ejecutándose por completo en tu máquina.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Formas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MDL2 Assets"/>
              </a:rPr>
              <a:t>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pic>
        <p:nvPicPr>
          <p:cNvPr id="10" name="Picture 9" descr="p4_x61_760x4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5440680" cy="3429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66928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Para perfiles técnicos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 — máximo control y flexibilidad.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Web · Florentino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5440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Interfaz web sencilla en el navegador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, con todas las funcionalidades de la terminal. Pensada para todo el profesorado e investigadores.</a:t>
            </a:r>
          </a:p>
        </p:txBody>
      </p:sp>
      <p:pic>
        <p:nvPicPr>
          <p:cNvPr id="15" name="Picture 14" descr="p4_x69_1296x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26080"/>
            <a:ext cx="5257800" cy="3655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Casos de uso (skills)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Revisión de papers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Adaptada a revista y rúbrica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Perfil concreto de revisor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Citas verificadas del artículo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Creación de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 partir de notas o documentos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Estructura de la narrativa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un borrador editable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37959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Corrección de exámenes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624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959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59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Apoyo con rúbricas</a:t>
            </a:r>
          </a:p>
        </p:txBody>
      </p:sp>
      <p:sp>
        <p:nvSpPr>
          <p:cNvPr id="44" name="Oval 43"/>
          <p:cNvSpPr/>
          <p:nvPr/>
        </p:nvSpPr>
        <p:spPr>
          <a:xfrm>
            <a:off x="6537959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59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Revisión de respuestas abiertas</a:t>
            </a:r>
          </a:p>
        </p:txBody>
      </p:sp>
      <p:sp>
        <p:nvSpPr>
          <p:cNvPr id="47" name="Oval 46"/>
          <p:cNvSpPr/>
          <p:nvPr/>
        </p:nvSpPr>
        <p:spPr>
          <a:xfrm>
            <a:off x="6537959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Preparación de feedback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1832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1828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269748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Lectura de documentos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660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1832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5478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3538728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Resume PDFs largos</a:t>
            </a:r>
          </a:p>
        </p:txBody>
      </p:sp>
      <p:sp>
        <p:nvSpPr>
          <p:cNvPr id="58" name="Oval 57"/>
          <p:cNvSpPr/>
          <p:nvPr/>
        </p:nvSpPr>
        <p:spPr>
          <a:xfrm>
            <a:off x="941832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4306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4297680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Extrae ideas clave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065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93808" y="5056632"/>
            <a:ext cx="165506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preguntas tipo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Usar este sistema implica un tradeoff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E7A8A"/>
                </a:solidFill>
                <a:latin typeface="Calibri"/>
              </a:rPr>
              <a:t>Lo que se cede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Potencia bruta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42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Un modelo local (7B–32B) razona peor que un frontier de la nube.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Techo de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Lo que ejecutas depende de tu RAM/GPU: equipos modestos, modelos más pequeños.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Mantenimiento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2861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Hay que preparar y mantener el entorno; una web no requiere nada.</a:t>
            </a:r>
          </a:p>
        </p:txBody>
      </p:sp>
      <p:sp>
        <p:nvSpPr>
          <p:cNvPr id="22" name="Oval 21"/>
          <p:cNvSpPr/>
          <p:nvPr/>
        </p:nvSpPr>
        <p:spPr>
          <a:xfrm>
            <a:off x="5779008" y="3429000"/>
            <a:ext cx="640080" cy="64008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341071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783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9BE5E"/>
                </a:solidFill>
                <a:latin typeface="Calibri"/>
              </a:rPr>
              <a:t>Lo que se gana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2331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313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86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Privacidad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642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Tus prompts, ficheros y datos nunca salen de la máquina.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3474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456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429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Independencia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785615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Sin API key, sin suscripción, sin límites, sin lock-in. Funciona offline.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0" y="4617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5994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7200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Confianza verificable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92861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Código abierto y comprobaciones que hacen fiable incluso a un modelo modesto.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1B"/>
                </a:solidFill>
                <a:latin typeface="Calibri"/>
              </a:rPr>
              <a:t>LA CONTRIBUCIÓN — CONFIANZA VERIFICABLE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Cómo hacemos fiable a un modelo modesto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El estado del arte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confunde el harness con el modelo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. Florentino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fija el modelo y varía el andamiaje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para aislar de dónde viene —o se pierde— la fiabilidad.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Medir el éxito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No solo “¿terminó?”, sino los éxitos falsos: dice que acabó sin poder demostrarlo.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Atribución de fallo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Separar si falló el modelo, el harness o el entorno.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97180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Taxonomía de fallos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520439"/>
            <a:ext cx="30632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Con un caso propio: tool_trace_failed — resultado correcto pero improbable de demostrar.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E5E"/>
                </a:solidFill>
                <a:latin typeface="Calibri"/>
              </a:rPr>
              <a:t>Es honesto: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la contribución es la medición y el hallazgo, no reclamar una capacidad que el hardware de consumo no puede 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383280"/>
            <a:ext cx="5120640" cy="51206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pic>
        <p:nvPicPr>
          <p:cNvPr id="6" name="Picture 5" descr="p7_x132_956x5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3886200" cy="2187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4612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1">
                <a:solidFill>
                  <a:srgbClr val="003D7C"/>
                </a:solidFill>
                <a:latin typeface="Cambria"/>
              </a:rPr>
              <a:t>Un asistente que trabaja para ti, sin que tus datos salgan de casa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64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Independiente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0447" y="4297680"/>
            <a:ext cx="822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1967" y="429768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