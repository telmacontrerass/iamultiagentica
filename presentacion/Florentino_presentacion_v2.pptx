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23760" y="2743200"/>
            <a:ext cx="6949440" cy="6949440"/>
          </a:xfrm>
          <a:prstGeom prst="ellipse">
            <a:avLst/>
          </a:prstGeom>
          <a:solidFill>
            <a:srgbClr val="F1DD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21040" y="3657600"/>
            <a:ext cx="5760720" cy="5760720"/>
          </a:xfrm>
          <a:prstGeom prst="ellipse">
            <a:avLst/>
          </a:prstGeom>
          <a:solidFill>
            <a:srgbClr val="E9B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600200"/>
            <a:ext cx="8229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600" b="1" i="0">
                <a:solidFill>
                  <a:srgbClr val="1A1A1A"/>
                </a:solidFill>
                <a:latin typeface="Calibri"/>
              </a:rPr>
              <a:t>Florentino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889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1">
                <a:solidFill>
                  <a:srgbClr val="E8A81B"/>
                </a:solidFill>
                <a:latin typeface="Calibri"/>
              </a:rPr>
              <a:t>IA agéntica en local para docencia e investigación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566160"/>
            <a:ext cx="4617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8A8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566160"/>
            <a:ext cx="4617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33A44"/>
                </a:solidFill>
                <a:latin typeface="Calibri"/>
              </a:rPr>
              <a:t>Programa   ·   ¿Qué puedes hacer con Claude Code?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92040"/>
            <a:ext cx="6400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Jorge Alonso Civantos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Telma Contreras Sáenz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Clara Lucena Vicente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Alberto Rodríguez Vicente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Pablo Sánchez Martínez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E7A8A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libri"/>
              </a:rPr>
              <a:t>La Cátedra de Industria Inteligente y el CI2LAB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5074920" cy="1874519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3D7C"/>
                </a:solidFill>
                <a:latin typeface="Calibri"/>
              </a:rPr>
              <a:t>Cátedra de Industria Inteligente</a:t>
            </a:r>
          </a:p>
        </p:txBody>
      </p:sp>
      <p:pic>
        <p:nvPicPr>
          <p:cNvPr id="10" name="Picture 9" descr="p2_x40_200x2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48840"/>
            <a:ext cx="960120" cy="960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20240" y="2084831"/>
            <a:ext cx="338327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Impulsar la transformación digital de la industria:</a:t>
            </a:r>
          </a:p>
        </p:txBody>
      </p:sp>
      <p:sp>
        <p:nvSpPr>
          <p:cNvPr id="12" name="Oval 11"/>
          <p:cNvSpPr/>
          <p:nvPr/>
        </p:nvSpPr>
        <p:spPr>
          <a:xfrm>
            <a:off x="1920240" y="2555748"/>
            <a:ext cx="91440" cy="91440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76272" y="2487168"/>
            <a:ext cx="32186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Investigación</a:t>
            </a:r>
          </a:p>
        </p:txBody>
      </p:sp>
      <p:sp>
        <p:nvSpPr>
          <p:cNvPr id="14" name="Oval 13"/>
          <p:cNvSpPr/>
          <p:nvPr/>
        </p:nvSpPr>
        <p:spPr>
          <a:xfrm>
            <a:off x="1920240" y="2816352"/>
            <a:ext cx="91440" cy="91440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76272" y="2747772"/>
            <a:ext cx="32186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Formación</a:t>
            </a:r>
          </a:p>
        </p:txBody>
      </p:sp>
      <p:sp>
        <p:nvSpPr>
          <p:cNvPr id="16" name="Oval 15"/>
          <p:cNvSpPr/>
          <p:nvPr/>
        </p:nvSpPr>
        <p:spPr>
          <a:xfrm>
            <a:off x="1920240" y="3076956"/>
            <a:ext cx="91440" cy="91440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76272" y="3008376"/>
            <a:ext cx="32186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Divulgación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11880"/>
            <a:ext cx="5074920" cy="219456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74903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3D7C"/>
                </a:solidFill>
                <a:latin typeface="Calibri"/>
              </a:rPr>
              <a:t>CI2LAB</a:t>
            </a:r>
          </a:p>
        </p:txBody>
      </p:sp>
      <p:pic>
        <p:nvPicPr>
          <p:cNvPr id="20" name="Picture 19" descr="p7_x132_956x5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51960"/>
            <a:ext cx="1554480" cy="87480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377439" y="4297680"/>
            <a:ext cx="29260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Laboratorio de investigación de la Cátedra: estudiantes de Comillas resuelven retos reales de las empresas patrono (Kearny, Repsol, Horse, Enagás, Endesa…).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1481328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A81B"/>
                </a:solidFill>
                <a:latin typeface="Calibri"/>
              </a:rPr>
              <a:t>Problema que afronta el proyecto — Reto 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1920240"/>
            <a:ext cx="5852160" cy="3886200"/>
          </a:xfrm>
          <a:prstGeom prst="roundRect">
            <a:avLst>
              <a:gd name="adj" fmla="val 4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72200" y="2194560"/>
            <a:ext cx="658368" cy="65836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2176272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240280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La manera de ofrecer los modelos está cambiando</a:t>
            </a:r>
          </a:p>
        </p:txBody>
      </p:sp>
      <p:sp>
        <p:nvSpPr>
          <p:cNvPr id="27" name="Oval 26"/>
          <p:cNvSpPr/>
          <p:nvPr/>
        </p:nvSpPr>
        <p:spPr>
          <a:xfrm>
            <a:off x="6172200" y="3268980"/>
            <a:ext cx="109728" cy="10972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320040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El acceso a los modelos es barato.</a:t>
            </a:r>
            <a:r>
              <a:rPr sz="1350" b="0" i="0">
                <a:solidFill>
                  <a:srgbClr val="333A44"/>
                </a:solidFill>
                <a:latin typeface="Calibri"/>
              </a:rPr>
              <a:t> Las empresas de IA, muy capitalizadas, subvencionan el precio para ganar mercado.</a:t>
            </a:r>
          </a:p>
        </p:txBody>
      </p:sp>
      <p:sp>
        <p:nvSpPr>
          <p:cNvPr id="29" name="Oval 28"/>
          <p:cNvSpPr/>
          <p:nvPr/>
        </p:nvSpPr>
        <p:spPr>
          <a:xfrm>
            <a:off x="6172200" y="4137660"/>
            <a:ext cx="109728" cy="10972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8232" y="406908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La forma de facturación cambiará.</a:t>
            </a:r>
            <a:r>
              <a:rPr sz="1350" b="0" i="0">
                <a:solidFill>
                  <a:srgbClr val="333A44"/>
                </a:solidFill>
                <a:latin typeface="Calibri"/>
              </a:rPr>
              <a:t> Cuando se adapte el modelo de cobro, la factura por uso intensivo puede dispararse.</a:t>
            </a:r>
          </a:p>
        </p:txBody>
      </p:sp>
      <p:sp>
        <p:nvSpPr>
          <p:cNvPr id="31" name="Oval 30"/>
          <p:cNvSpPr/>
          <p:nvPr/>
        </p:nvSpPr>
        <p:spPr>
          <a:xfrm>
            <a:off x="6172200" y="5006340"/>
            <a:ext cx="109728" cy="10972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8232" y="493776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Se depende de un proveedor externo.</a:t>
            </a:r>
            <a:r>
              <a:rPr sz="1350" b="0" i="0">
                <a:solidFill>
                  <a:srgbClr val="333A44"/>
                </a:solidFill>
                <a:latin typeface="Calibri"/>
              </a:rPr>
              <a:t> Sujeto a cambios de modelo, límites de uso o un servicio retirado.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E7A8A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libri"/>
              </a:rPr>
              <a:t>¿Qué es Florentino?</a:t>
            </a:r>
          </a:p>
        </p:txBody>
      </p:sp>
      <p:pic>
        <p:nvPicPr>
          <p:cNvPr id="8" name="Picture 7" descr="p3_x53_1440x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1417320"/>
            <a:ext cx="8641080" cy="360045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212080"/>
            <a:ext cx="11201400" cy="1051560"/>
          </a:xfrm>
          <a:prstGeom prst="roundRect">
            <a:avLst>
              <a:gd name="adj" fmla="val 5000"/>
            </a:avLst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3492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3D7C"/>
                </a:solidFill>
                <a:latin typeface="Calibri"/>
              </a:rPr>
              <a:t>En definitiva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150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333A44"/>
                </a:solidFill>
                <a:latin typeface="Calibri"/>
              </a:rPr>
              <a:t>Es una alternativa </a:t>
            </a:r>
            <a:r>
              <a:rPr sz="1450" b="1" i="1">
                <a:solidFill>
                  <a:srgbClr val="003D7C"/>
                </a:solidFill>
                <a:latin typeface="Calibri"/>
              </a:rPr>
              <a:t>open source</a:t>
            </a:r>
            <a:r>
              <a:rPr sz="1450" b="0" i="0">
                <a:solidFill>
                  <a:srgbClr val="333A44"/>
                </a:solidFill>
                <a:latin typeface="Calibri"/>
              </a:rPr>
              <a:t> que replica el lazo agéntico de Claude Code, ejecutándose por completo en tu máquina.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E7A8A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libri"/>
              </a:rPr>
              <a:t>Arquitectura: el recorrido de una petición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8027" y="1920240"/>
            <a:ext cx="23317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05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8027" y="1920240"/>
            <a:ext cx="2331720" cy="100584"/>
          </a:xfrm>
          <a:prstGeom prst="rect">
            <a:avLst/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187" y="2176272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03D7C"/>
                </a:solidFill>
                <a:latin typeface="Calibri"/>
              </a:rPr>
              <a:t>Usuario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187" y="2670048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E7A8A"/>
                </a:solidFill>
                <a:latin typeface="Calibri"/>
              </a:rPr>
              <a:t>CLI · Web</a:t>
            </a:r>
          </a:p>
        </p:txBody>
      </p:sp>
      <p:sp>
        <p:nvSpPr>
          <p:cNvPr id="12" name="Chevron 11"/>
          <p:cNvSpPr/>
          <p:nvPr/>
        </p:nvSpPr>
        <p:spPr>
          <a:xfrm>
            <a:off x="3092043" y="2340864"/>
            <a:ext cx="338328" cy="256032"/>
          </a:xfrm>
          <a:prstGeom prst="chevron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12667" y="1920240"/>
            <a:ext cx="23317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05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2667" y="1920240"/>
            <a:ext cx="2331720" cy="100584"/>
          </a:xfrm>
          <a:prstGeom prst="rect">
            <a:avLst/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9827" y="2176272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03D7C"/>
                </a:solidFill>
                <a:latin typeface="Calibri"/>
              </a:rPr>
              <a:t>Config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9827" y="2670048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E7A8A"/>
                </a:solidFill>
                <a:latin typeface="Calibri"/>
              </a:rPr>
              <a:t>defaults &lt; yaml &lt; env &lt; flags</a:t>
            </a:r>
          </a:p>
        </p:txBody>
      </p:sp>
      <p:sp>
        <p:nvSpPr>
          <p:cNvPr id="17" name="Chevron 16"/>
          <p:cNvSpPr/>
          <p:nvPr/>
        </p:nvSpPr>
        <p:spPr>
          <a:xfrm>
            <a:off x="5926683" y="2340864"/>
            <a:ext cx="338328" cy="256032"/>
          </a:xfrm>
          <a:prstGeom prst="chevron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7307" y="1920240"/>
            <a:ext cx="23317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05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7307" y="1920240"/>
            <a:ext cx="2331720" cy="100584"/>
          </a:xfrm>
          <a:prstGeom prst="rect">
            <a:avLst/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4467" y="2176272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03D7C"/>
                </a:solidFill>
                <a:latin typeface="Calibri"/>
              </a:rPr>
              <a:t>Pipeline + Router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4467" y="2670048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E7A8A"/>
                </a:solidFill>
                <a:latin typeface="Calibri"/>
              </a:rPr>
              <a:t>elige el modelo</a:t>
            </a:r>
          </a:p>
        </p:txBody>
      </p:sp>
      <p:sp>
        <p:nvSpPr>
          <p:cNvPr id="22" name="Chevron 21"/>
          <p:cNvSpPr/>
          <p:nvPr/>
        </p:nvSpPr>
        <p:spPr>
          <a:xfrm>
            <a:off x="8761323" y="2340864"/>
            <a:ext cx="338328" cy="256032"/>
          </a:xfrm>
          <a:prstGeom prst="chevron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81947" y="1920240"/>
            <a:ext cx="23317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05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1947" y="1920240"/>
            <a:ext cx="2331720" cy="100584"/>
          </a:xfrm>
          <a:prstGeom prst="rect">
            <a:avLst/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19107" y="2176272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03D7C"/>
                </a:solidFill>
                <a:latin typeface="Calibri"/>
              </a:rPr>
              <a:t>Lazo ReAct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9107" y="2670048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E7A8A"/>
                </a:solidFill>
                <a:latin typeface="Calibri"/>
              </a:rPr>
              <a:t>razona → actúa → verifica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291840"/>
            <a:ext cx="11201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33A44"/>
                </a:solidFill>
                <a:latin typeface="Calibri"/>
              </a:rPr>
              <a:t>El lazo se apoya en dos costuras </a:t>
            </a:r>
            <a:r>
              <a:rPr sz="1350" b="1" i="0">
                <a:solidFill>
                  <a:srgbClr val="003D7C"/>
                </a:solidFill>
                <a:latin typeface="Calibri"/>
              </a:rPr>
              <a:t>enchufables y extensibles</a:t>
            </a:r>
            <a:r>
              <a:rPr sz="1350" b="0" i="0">
                <a:solidFill>
                  <a:srgbClr val="333A44"/>
                </a:solidFill>
                <a:latin typeface="Calibri"/>
              </a:rPr>
              <a:t>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8047" y="3703320"/>
            <a:ext cx="5074920" cy="132588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47" y="3703320"/>
            <a:ext cx="5074920" cy="100584"/>
          </a:xfrm>
          <a:prstGeom prst="rect">
            <a:avLst/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2367" y="391363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3D7C"/>
                </a:solidFill>
                <a:latin typeface="Calibri"/>
              </a:rPr>
              <a:t>Backends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2367" y="431596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Transporte del modelo. Añadir un proveedor = una subclase LLMBackend.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8727" y="3703320"/>
            <a:ext cx="5074920" cy="132588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78727" y="3703320"/>
            <a:ext cx="5074920" cy="100584"/>
          </a:xfrm>
          <a:prstGeom prst="rect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047" y="391363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3D7C"/>
                </a:solidFill>
                <a:latin typeface="Calibri"/>
              </a:rPr>
              <a:t>Herramientas (28)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3047" y="431596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parse → dispatch → execute. Añadir una = 4 registros que un test mantiene sincronizados.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257800"/>
            <a:ext cx="11201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E7A8A"/>
                </a:solidFill>
                <a:latin typeface="Calibri"/>
              </a:rPr>
              <a:t>Precedencia clara de configuración y dos puntos de extensión bien definidos: </a:t>
            </a:r>
            <a:r>
              <a:rPr sz="1300" b="1" i="0">
                <a:solidFill>
                  <a:srgbClr val="205DA4"/>
                </a:solidFill>
                <a:latin typeface="Calibri"/>
              </a:rPr>
              <a:t>crecer no obliga a tocar el núcleo.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E7A8A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libri"/>
              </a:rPr>
              <a:t>El agente: un ecosistema, no solo un lazo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81B"/>
                </a:solidFill>
                <a:latin typeface="Calibri"/>
              </a:rPr>
              <a:t>CAPACIDADES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080260"/>
            <a:ext cx="109728" cy="10972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011680"/>
            <a:ext cx="52760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03D7C"/>
                </a:solidFill>
                <a:latin typeface="Calibri"/>
              </a:rPr>
              <a:t>28 herramientas</a:t>
            </a:r>
            <a:r>
              <a:rPr sz="1450" b="0" i="0">
                <a:solidFill>
                  <a:srgbClr val="333A44"/>
                </a:solidFill>
                <a:latin typeface="Calibri"/>
              </a:rPr>
              <a:t>  bash, ficheros, git, web, visión, PDF.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692908"/>
            <a:ext cx="109728" cy="10972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624328"/>
            <a:ext cx="52760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03D7C"/>
                </a:solidFill>
                <a:latin typeface="Calibri"/>
              </a:rPr>
              <a:t>Extensible</a:t>
            </a:r>
            <a:r>
              <a:rPr sz="1450" b="0" i="0">
                <a:solidFill>
                  <a:srgbClr val="333A44"/>
                </a:solidFill>
                <a:latin typeface="Calibri"/>
              </a:rPr>
              <a:t>  servidores MCP y skills de workspace.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305556"/>
            <a:ext cx="109728" cy="10972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236976"/>
            <a:ext cx="52760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03D7C"/>
                </a:solidFill>
                <a:latin typeface="Calibri"/>
              </a:rPr>
              <a:t>Memoria de proyecto</a:t>
            </a:r>
            <a:r>
              <a:rPr sz="1450" b="0" i="0">
                <a:solidFill>
                  <a:srgbClr val="333A44"/>
                </a:solidFill>
                <a:latin typeface="Calibri"/>
              </a:rPr>
              <a:t>  instrucciones persistentes en el prompt.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3918204"/>
            <a:ext cx="109728" cy="10972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849624"/>
            <a:ext cx="52760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03D7C"/>
                </a:solidFill>
                <a:latin typeface="Calibri"/>
              </a:rPr>
              <a:t>Modo multiagente</a:t>
            </a:r>
            <a:r>
              <a:rPr sz="1450" b="0" i="0">
                <a:solidFill>
                  <a:srgbClr val="333A44"/>
                </a:solidFill>
                <a:latin typeface="Calibri"/>
              </a:rPr>
              <a:t>  roles + revisión entre pares con evidencia.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91640"/>
            <a:ext cx="22860" cy="3840480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57276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05DA4"/>
                </a:solidFill>
                <a:latin typeface="Calibri"/>
              </a:rPr>
              <a:t>SEGURIDAD — PARTE DEL NÚCLEO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080260"/>
            <a:ext cx="109728" cy="109728"/>
          </a:xfrm>
          <a:prstGeom prst="ellipse">
            <a:avLst/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2011680"/>
            <a:ext cx="45902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03D7C"/>
                </a:solidFill>
                <a:latin typeface="Calibri"/>
              </a:rPr>
              <a:t>Motores de permisos</a:t>
            </a:r>
            <a:r>
              <a:rPr sz="1450" b="0" i="0">
                <a:solidFill>
                  <a:srgbClr val="333A44"/>
                </a:solidFill>
                <a:latin typeface="Calibri"/>
              </a:rPr>
              <a:t>  reglas deny / ask / allow.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2692908"/>
            <a:ext cx="109728" cy="109728"/>
          </a:xfrm>
          <a:prstGeom prst="ellipse">
            <a:avLst/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2" y="2624328"/>
            <a:ext cx="45902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03D7C"/>
                </a:solidFill>
                <a:latin typeface="Calibri"/>
              </a:rPr>
              <a:t>Perfiles</a:t>
            </a:r>
            <a:r>
              <a:rPr sz="1450" b="0" i="0">
                <a:solidFill>
                  <a:srgbClr val="333A44"/>
                </a:solidFill>
                <a:latin typeface="Calibri"/>
              </a:rPr>
              <a:t>  estricto · estándar · auditoría.</a:t>
            </a:r>
          </a:p>
        </p:txBody>
      </p:sp>
      <p:sp>
        <p:nvSpPr>
          <p:cNvPr id="23" name="Oval 22"/>
          <p:cNvSpPr/>
          <p:nvPr/>
        </p:nvSpPr>
        <p:spPr>
          <a:xfrm>
            <a:off x="6492240" y="3305556"/>
            <a:ext cx="109728" cy="109728"/>
          </a:xfrm>
          <a:prstGeom prst="ellipse">
            <a:avLst/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8272" y="3236976"/>
            <a:ext cx="45902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03D7C"/>
                </a:solidFill>
                <a:latin typeface="Calibri"/>
              </a:rPr>
              <a:t>Guardas duras</a:t>
            </a:r>
            <a:r>
              <a:rPr sz="1450" b="0" i="0">
                <a:solidFill>
                  <a:srgbClr val="333A44"/>
                </a:solidFill>
                <a:latin typeface="Calibri"/>
              </a:rPr>
              <a:t>  bloquean bash peligroso.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4251960"/>
            <a:ext cx="4846320" cy="1325880"/>
          </a:xfrm>
          <a:prstGeom prst="roundRect">
            <a:avLst>
              <a:gd name="adj" fmla="val 5000"/>
            </a:avLst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434840"/>
            <a:ext cx="4389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El agente puede tocar tus ficheros y ejecutar comandos.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03D7C"/>
                </a:solidFill>
                <a:latin typeface="Calibri"/>
              </a:rPr>
              <a:t>Por eso la seguridad no es opcional.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E7A8A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libri"/>
              </a:rPr>
              <a:t>Formas de uso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MDL2 Assets"/>
              </a:rPr>
              <a:t>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Terminal</a:t>
            </a:r>
          </a:p>
        </p:txBody>
      </p:sp>
      <p:pic>
        <p:nvPicPr>
          <p:cNvPr id="10" name="Picture 9" descr="p4_x61_760x4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48840"/>
            <a:ext cx="5440680" cy="34290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669280"/>
            <a:ext cx="5440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Para perfiles técnicos</a:t>
            </a:r>
            <a:r>
              <a:rPr sz="1300" b="0" i="0">
                <a:solidFill>
                  <a:srgbClr val="333A44"/>
                </a:solidFill>
                <a:latin typeface="Calibri"/>
              </a:rPr>
              <a:t> — máximo control y flexibilidad.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2834640" cy="502920"/>
          </a:xfrm>
          <a:prstGeom prst="roundRect">
            <a:avLst>
              <a:gd name="adj" fmla="val 50000"/>
            </a:avLst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463040"/>
            <a:ext cx="2834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Web · Florentino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103120"/>
            <a:ext cx="5440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Interfaz web sencilla en el navegador</a:t>
            </a:r>
            <a:r>
              <a:rPr sz="1300" b="0" i="0">
                <a:solidFill>
                  <a:srgbClr val="333A44"/>
                </a:solidFill>
                <a:latin typeface="Calibri"/>
              </a:rPr>
              <a:t>, con todas las funcionalidades de la terminal. Pensada para todo el profesorado e investigadores.</a:t>
            </a:r>
          </a:p>
        </p:txBody>
      </p:sp>
      <p:pic>
        <p:nvPicPr>
          <p:cNvPr id="15" name="Picture 14" descr="p4_x69_1296x9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926080"/>
            <a:ext cx="5257800" cy="36553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E7A8A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libri"/>
              </a:rPr>
              <a:t>Casos de uso (skills)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2615184" cy="434340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847088"/>
            <a:ext cx="658368" cy="65836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MDL2 Assets"/>
              </a:rPr>
              <a:t>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211226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Revisión de papers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3383280"/>
            <a:ext cx="502920" cy="41148"/>
          </a:xfrm>
          <a:prstGeom prst="rect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566160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4787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3538728"/>
            <a:ext cx="165506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Adaptada a revista y rúbrica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325112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068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4297680"/>
            <a:ext cx="165506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Perfil concreto de revisor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5084064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0657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5056632"/>
            <a:ext cx="165506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Citas verificadas del artículo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1554480"/>
            <a:ext cx="2615184" cy="434340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57600" y="1847088"/>
            <a:ext cx="658368" cy="65836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182880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MDL2 Assets"/>
              </a:rPr>
              <a:t>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2697480"/>
            <a:ext cx="211226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Creación de slides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75888" y="3383280"/>
            <a:ext cx="502920" cy="41148"/>
          </a:xfrm>
          <a:prstGeom prst="rect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57600" y="3566160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354787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33088" y="3538728"/>
            <a:ext cx="165506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A partir de notas o documentos</a:t>
            </a:r>
          </a:p>
        </p:txBody>
      </p:sp>
      <p:sp>
        <p:nvSpPr>
          <p:cNvPr id="30" name="Oval 29"/>
          <p:cNvSpPr/>
          <p:nvPr/>
        </p:nvSpPr>
        <p:spPr>
          <a:xfrm>
            <a:off x="3657600" y="4325112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43068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3088" y="4297680"/>
            <a:ext cx="165506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Estructura de la narrativa</a:t>
            </a:r>
          </a:p>
        </p:txBody>
      </p:sp>
      <p:sp>
        <p:nvSpPr>
          <p:cNvPr id="33" name="Oval 32"/>
          <p:cNvSpPr/>
          <p:nvPr/>
        </p:nvSpPr>
        <p:spPr>
          <a:xfrm>
            <a:off x="3657600" y="5084064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50657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3088" y="5056632"/>
            <a:ext cx="165506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Genera un borrador editable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1554480"/>
            <a:ext cx="2615184" cy="434340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537959" y="1847088"/>
            <a:ext cx="658368" cy="65836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59" y="182880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MDL2 Assets"/>
              </a:rPr>
              <a:t>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59" y="2697480"/>
            <a:ext cx="211226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Corrección de exámenes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56248" y="3383280"/>
            <a:ext cx="502920" cy="41148"/>
          </a:xfrm>
          <a:prstGeom prst="rect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37959" y="3566160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59" y="354787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13448" y="3538728"/>
            <a:ext cx="165506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Apoyo con rúbricas</a:t>
            </a:r>
          </a:p>
        </p:txBody>
      </p:sp>
      <p:sp>
        <p:nvSpPr>
          <p:cNvPr id="44" name="Oval 43"/>
          <p:cNvSpPr/>
          <p:nvPr/>
        </p:nvSpPr>
        <p:spPr>
          <a:xfrm>
            <a:off x="6537959" y="4325112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59" y="43068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13448" y="4297680"/>
            <a:ext cx="165506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Revisión de respuestas abiertas</a:t>
            </a:r>
          </a:p>
        </p:txBody>
      </p:sp>
      <p:sp>
        <p:nvSpPr>
          <p:cNvPr id="47" name="Oval 46"/>
          <p:cNvSpPr/>
          <p:nvPr/>
        </p:nvSpPr>
        <p:spPr>
          <a:xfrm>
            <a:off x="6537959" y="5084064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59" y="50657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5056632"/>
            <a:ext cx="165506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Preparación de feedback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44000" y="1554480"/>
            <a:ext cx="2615184" cy="434340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418320" y="1847088"/>
            <a:ext cx="658368" cy="65836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18320" y="182880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MDL2 Assets"/>
              </a:rPr>
              <a:t>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2697480"/>
            <a:ext cx="211226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Lectura de documentos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36608" y="3383280"/>
            <a:ext cx="502920" cy="41148"/>
          </a:xfrm>
          <a:prstGeom prst="rect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418320" y="3566160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18320" y="354787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93808" y="3538728"/>
            <a:ext cx="165506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Resume PDFs largos</a:t>
            </a:r>
          </a:p>
        </p:txBody>
      </p:sp>
      <p:sp>
        <p:nvSpPr>
          <p:cNvPr id="58" name="Oval 57"/>
          <p:cNvSpPr/>
          <p:nvPr/>
        </p:nvSpPr>
        <p:spPr>
          <a:xfrm>
            <a:off x="9418320" y="4325112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18320" y="43068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93808" y="4297680"/>
            <a:ext cx="165506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Extrae ideas clave</a:t>
            </a:r>
          </a:p>
        </p:txBody>
      </p:sp>
      <p:sp>
        <p:nvSpPr>
          <p:cNvPr id="61" name="Oval 60"/>
          <p:cNvSpPr/>
          <p:nvPr/>
        </p:nvSpPr>
        <p:spPr>
          <a:xfrm>
            <a:off x="9418320" y="5084064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18320" y="50657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93808" y="5056632"/>
            <a:ext cx="165506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Genera preguntas tipo test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E7A8A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libri"/>
              </a:rPr>
              <a:t>Usar este sistema implica un tradeoff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5074920" cy="4206240"/>
          </a:xfrm>
          <a:prstGeom prst="roundRect">
            <a:avLst>
              <a:gd name="adj" fmla="val 4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6E7A8A"/>
                </a:solidFill>
                <a:latin typeface="Calibri"/>
              </a:rPr>
              <a:t>Lo que se cede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C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134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286000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Potencia bruta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42615"/>
            <a:ext cx="3794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Un modelo local (7B–32B) razona peor que un frontier de la nube.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474720"/>
            <a:ext cx="457200" cy="457200"/>
          </a:xfrm>
          <a:prstGeom prst="ellipse">
            <a:avLst/>
          </a:prstGeom>
          <a:solidFill>
            <a:srgbClr val="C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564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29000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Techo de 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785615"/>
            <a:ext cx="3794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Lo que ejecutas depende de tu RAM/GPU: equipos modestos, modelos más pequeños.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617720"/>
            <a:ext cx="457200" cy="457200"/>
          </a:xfrm>
          <a:prstGeom prst="ellipse">
            <a:avLst/>
          </a:prstGeom>
          <a:solidFill>
            <a:srgbClr val="C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994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572000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Mantenimiento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928616"/>
            <a:ext cx="3794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Hay que preparar y mantener el entorno; una web no requiere nada.</a:t>
            </a:r>
          </a:p>
        </p:txBody>
      </p:sp>
      <p:sp>
        <p:nvSpPr>
          <p:cNvPr id="22" name="Oval 21"/>
          <p:cNvSpPr/>
          <p:nvPr/>
        </p:nvSpPr>
        <p:spPr>
          <a:xfrm>
            <a:off x="5779008" y="3429000"/>
            <a:ext cx="640080" cy="640080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79008" y="3410712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1600200"/>
            <a:ext cx="5074920" cy="4206240"/>
          </a:xfrm>
          <a:prstGeom prst="roundRect">
            <a:avLst>
              <a:gd name="adj" fmla="val 4000"/>
            </a:avLst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178308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E9BE5E"/>
                </a:solidFill>
                <a:latin typeface="Calibri"/>
              </a:rPr>
              <a:t>Lo que se gana</a:t>
            </a:r>
          </a:p>
        </p:txBody>
      </p:sp>
      <p:sp>
        <p:nvSpPr>
          <p:cNvPr id="26" name="Oval 25"/>
          <p:cNvSpPr/>
          <p:nvPr/>
        </p:nvSpPr>
        <p:spPr>
          <a:xfrm>
            <a:off x="6949440" y="233172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23134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05DA4"/>
                </a:solidFill>
                <a:latin typeface="Segoe MDL2 Assets"/>
              </a:rPr>
              <a:t>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286000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Privacidad total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2642615"/>
            <a:ext cx="3794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DE6F3"/>
                </a:solidFill>
                <a:latin typeface="Calibri"/>
              </a:rPr>
              <a:t>Tus prompts, ficheros y datos nunca salen de la máquina.</a:t>
            </a:r>
          </a:p>
        </p:txBody>
      </p:sp>
      <p:sp>
        <p:nvSpPr>
          <p:cNvPr id="30" name="Oval 29"/>
          <p:cNvSpPr/>
          <p:nvPr/>
        </p:nvSpPr>
        <p:spPr>
          <a:xfrm>
            <a:off x="6949440" y="347472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34564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05DA4"/>
                </a:solidFill>
                <a:latin typeface="Segoe MDL2 Assets"/>
              </a:rPr>
              <a:t>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429000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Independencia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3785615"/>
            <a:ext cx="3794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DE6F3"/>
                </a:solidFill>
                <a:latin typeface="Calibri"/>
              </a:rPr>
              <a:t>Sin API key, sin suscripción, sin límites, sin lock-in. Funciona offline.</a:t>
            </a:r>
          </a:p>
        </p:txBody>
      </p:sp>
      <p:sp>
        <p:nvSpPr>
          <p:cNvPr id="34" name="Oval 33"/>
          <p:cNvSpPr/>
          <p:nvPr/>
        </p:nvSpPr>
        <p:spPr>
          <a:xfrm>
            <a:off x="6949440" y="461772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5994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05DA4"/>
                </a:solidFill>
                <a:latin typeface="Segoe MDL2 Assets"/>
              </a:rPr>
              <a:t>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4572000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Confianza verificable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928616"/>
            <a:ext cx="3794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DE6F3"/>
                </a:solidFill>
                <a:latin typeface="Calibri"/>
              </a:rPr>
              <a:t>Código abierto y comprobaciones que hacen fiable incluso a un modelo modesto.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E7A8A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81B"/>
                </a:solidFill>
                <a:latin typeface="Calibri"/>
              </a:rPr>
              <a:t>LA CONTRIBUCIÓN — CONFIANZA VERIFICABLE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315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Cómo hacemos fiable a un modelo modesto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333A44"/>
                </a:solidFill>
                <a:latin typeface="Calibri"/>
              </a:rPr>
              <a:t>El estado del arte </a:t>
            </a:r>
            <a:r>
              <a:rPr sz="1450" b="1" i="0">
                <a:solidFill>
                  <a:srgbClr val="003D7C"/>
                </a:solidFill>
                <a:latin typeface="Calibri"/>
              </a:rPr>
              <a:t>confunde el harness con el modelo</a:t>
            </a:r>
            <a:r>
              <a:rPr sz="1450" b="0" i="0">
                <a:solidFill>
                  <a:srgbClr val="333A44"/>
                </a:solidFill>
                <a:latin typeface="Calibri"/>
              </a:rPr>
              <a:t>. Florentino </a:t>
            </a:r>
            <a:r>
              <a:rPr sz="1450" b="1" i="0">
                <a:solidFill>
                  <a:srgbClr val="003D7C"/>
                </a:solidFill>
                <a:latin typeface="Calibri"/>
              </a:rPr>
              <a:t>fija el modelo y varía el andamiaje</a:t>
            </a:r>
            <a:r>
              <a:rPr sz="1450" b="0" i="0">
                <a:solidFill>
                  <a:srgbClr val="333A44"/>
                </a:solidFill>
                <a:latin typeface="Calibri"/>
              </a:rPr>
              <a:t> para aislar de dónde viene —o se pierde— la fiabilidad.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51760"/>
            <a:ext cx="3566160" cy="214884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651760"/>
            <a:ext cx="3566160" cy="118872"/>
          </a:xfrm>
          <a:prstGeom prst="rect">
            <a:avLst/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30632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3D7C"/>
                </a:solidFill>
                <a:latin typeface="Calibri"/>
              </a:rPr>
              <a:t>Medir el éxito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20439"/>
            <a:ext cx="30632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No solo “¿terminó?”, sino los éxitos falsos: dice que acabó sin poder demostrarlo.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651760"/>
            <a:ext cx="3566160" cy="214884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651760"/>
            <a:ext cx="3566160" cy="118872"/>
          </a:xfrm>
          <a:prstGeom prst="rect">
            <a:avLst/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1" y="2971800"/>
            <a:ext cx="30632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3D7C"/>
                </a:solidFill>
                <a:latin typeface="Calibri"/>
              </a:rPr>
              <a:t>Atribución de fallo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1" y="3520439"/>
            <a:ext cx="30632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Separar si falló el modelo, el harness o el entorno.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2651760"/>
            <a:ext cx="3566160" cy="214884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47304" y="2651760"/>
            <a:ext cx="3566160" cy="118872"/>
          </a:xfrm>
          <a:prstGeom prst="rect">
            <a:avLst/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2971800"/>
            <a:ext cx="30632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3D7C"/>
                </a:solidFill>
                <a:latin typeface="Calibri"/>
              </a:rPr>
              <a:t>Taxonomía de fallos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1624" y="3520439"/>
            <a:ext cx="30632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Con un caso propio: tool_trace_failed — resultado correcto pero improbable de demostrar.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166360"/>
            <a:ext cx="11201400" cy="960120"/>
          </a:xfrm>
          <a:prstGeom prst="roundRect">
            <a:avLst>
              <a:gd name="adj" fmla="val 6000"/>
            </a:avLst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166360"/>
            <a:ext cx="10515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BE5E"/>
                </a:solidFill>
                <a:latin typeface="Calibri"/>
              </a:rPr>
              <a:t>Es honesto: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la contribución es la medición y el hallazgo, no reclamar una capacidad que el hardware de consumo no puede dar.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377440" y="3383280"/>
            <a:ext cx="5120640" cy="5120640"/>
          </a:xfrm>
          <a:prstGeom prst="ellipse">
            <a:avLst/>
          </a:prstGeom>
          <a:solidFill>
            <a:srgbClr val="F1DD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pic>
        <p:nvPicPr>
          <p:cNvPr id="6" name="Picture 5" descr="p7_x132_956x5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777240"/>
            <a:ext cx="3886200" cy="21870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246120"/>
            <a:ext cx="103601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1">
                <a:solidFill>
                  <a:srgbClr val="003D7C"/>
                </a:solidFill>
                <a:latin typeface="Cambria"/>
              </a:rPr>
              <a:t>Un asistente que trabaja para ti, sin que tus datos salgan de casa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887" y="4297680"/>
            <a:ext cx="3383280" cy="1005840"/>
          </a:xfrm>
          <a:prstGeom prst="roundRect">
            <a:avLst>
              <a:gd name="adj" fmla="val 6000"/>
            </a:avLst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3807" y="4297680"/>
            <a:ext cx="8229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FFFFFF"/>
                </a:solidFill>
                <a:latin typeface="Segoe MDL2 Assets"/>
              </a:rPr>
              <a:t>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4297680"/>
            <a:ext cx="20116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Privado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4207" y="4297680"/>
            <a:ext cx="3383280" cy="1005840"/>
          </a:xfrm>
          <a:prstGeom prst="roundRect">
            <a:avLst>
              <a:gd name="adj" fmla="val 6000"/>
            </a:avLst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4297680"/>
            <a:ext cx="8229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FFFFFF"/>
                </a:solidFill>
                <a:latin typeface="Segoe MDL2 Assets"/>
              </a:rPr>
              <a:t>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8647" y="4297680"/>
            <a:ext cx="20116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Independiente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7527" y="4297680"/>
            <a:ext cx="3383280" cy="1005840"/>
          </a:xfrm>
          <a:prstGeom prst="roundRect">
            <a:avLst>
              <a:gd name="adj" fmla="val 6000"/>
            </a:avLst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10447" y="4297680"/>
            <a:ext cx="8229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FFFFFF"/>
                </a:solidFill>
                <a:latin typeface="Segoe MDL2 Assets"/>
              </a:rPr>
              <a:t>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1967" y="4297680"/>
            <a:ext cx="20116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Fiable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