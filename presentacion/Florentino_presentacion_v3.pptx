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29" y="6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223760" y="2743200"/>
            <a:ext cx="6949440" cy="6949440"/>
          </a:xfrm>
          <a:prstGeom prst="ellipse">
            <a:avLst/>
          </a:prstGeom>
          <a:solidFill>
            <a:srgbClr val="F1D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21040" y="3657600"/>
            <a:ext cx="5760720" cy="5760720"/>
          </a:xfrm>
          <a:prstGeom prst="ellipse">
            <a:avLst/>
          </a:prstGeom>
          <a:solidFill>
            <a:srgbClr val="E9B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0020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1A1A1A"/>
                </a:solidFill>
                <a:latin typeface="Calibri"/>
              </a:rPr>
              <a:t>Florentino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1">
                <a:solidFill>
                  <a:srgbClr val="E8A81B"/>
                </a:solidFill>
                <a:latin typeface="Calibri"/>
              </a:rPr>
              <a:t>IA agéntica en local para docencia e investigación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566160"/>
            <a:ext cx="461772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A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3566160"/>
            <a:ext cx="4617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3A44"/>
                </a:solidFill>
                <a:latin typeface="Calibri"/>
              </a:rPr>
              <a:t>Programa   ·   ¿Qué puedes hacer con Claude Code?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Jorge Alonso Civantos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Telma Contreras Sáenz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Clara Lucena Vicente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Alberto Rodríguez Vicente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Pablo Sánchez Martínez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La Cátedra de Industria Inteligente y el CI2LAB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074920" cy="1874519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Cátedra de Industria Inteligente</a:t>
            </a:r>
          </a:p>
        </p:txBody>
      </p:sp>
      <p:pic>
        <p:nvPicPr>
          <p:cNvPr id="10" name="Picture 9" descr="p2_x40_200x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48840"/>
            <a:ext cx="960120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2084831"/>
            <a:ext cx="3383279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Impulsar la transformación digital de la industria:</a:t>
            </a:r>
          </a:p>
        </p:txBody>
      </p:sp>
      <p:sp>
        <p:nvSpPr>
          <p:cNvPr id="12" name="Oval 11"/>
          <p:cNvSpPr/>
          <p:nvPr/>
        </p:nvSpPr>
        <p:spPr>
          <a:xfrm>
            <a:off x="1920240" y="2555748"/>
            <a:ext cx="91440" cy="9144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76272" y="2487168"/>
            <a:ext cx="32186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Investigación</a:t>
            </a:r>
          </a:p>
        </p:txBody>
      </p:sp>
      <p:sp>
        <p:nvSpPr>
          <p:cNvPr id="14" name="Oval 13"/>
          <p:cNvSpPr/>
          <p:nvPr/>
        </p:nvSpPr>
        <p:spPr>
          <a:xfrm>
            <a:off x="1920240" y="2816352"/>
            <a:ext cx="91440" cy="9144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2747772"/>
            <a:ext cx="32186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Formación</a:t>
            </a:r>
          </a:p>
        </p:txBody>
      </p:sp>
      <p:sp>
        <p:nvSpPr>
          <p:cNvPr id="16" name="Oval 15"/>
          <p:cNvSpPr/>
          <p:nvPr/>
        </p:nvSpPr>
        <p:spPr>
          <a:xfrm>
            <a:off x="1920240" y="3076956"/>
            <a:ext cx="91440" cy="9144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76272" y="3008376"/>
            <a:ext cx="32186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Divulgación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11880"/>
            <a:ext cx="5074920" cy="219456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CI2LAB</a:t>
            </a:r>
          </a:p>
        </p:txBody>
      </p:sp>
      <p:pic>
        <p:nvPicPr>
          <p:cNvPr id="20" name="Picture 19" descr="p7_x132_956x5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51960"/>
            <a:ext cx="1554480" cy="8748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77439" y="4297680"/>
            <a:ext cx="2926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Laboratorio de investigación de la Cátedra: estudiantes de Comillas resuelven retos reales de las empresas patrono (Kearny, Repsol, Horse, Enagás, Endesa…).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48132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A81B"/>
                </a:solidFill>
                <a:latin typeface="Calibri"/>
              </a:rPr>
              <a:t>Problema que afronta el proyecto — Reto 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1920240"/>
            <a:ext cx="5852160" cy="3886200"/>
          </a:xfrm>
          <a:prstGeom prst="roundRect">
            <a:avLst>
              <a:gd name="adj" fmla="val 4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72200" y="2194560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72200" y="217627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 dirty="0">
                <a:solidFill>
                  <a:srgbClr val="FFFFFF"/>
                </a:solidFill>
                <a:latin typeface="Calibri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8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La manera de ofrecer los modelos está cambiando</a:t>
            </a:r>
          </a:p>
        </p:txBody>
      </p:sp>
      <p:sp>
        <p:nvSpPr>
          <p:cNvPr id="27" name="Oval 26"/>
          <p:cNvSpPr/>
          <p:nvPr/>
        </p:nvSpPr>
        <p:spPr>
          <a:xfrm>
            <a:off x="6172200" y="326898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20040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El acceso a los modelos es barato.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Las empresas de IA, muy capitalizadas, subvencionan el precio para ganar mercado.</a:t>
            </a:r>
          </a:p>
        </p:txBody>
      </p:sp>
      <p:sp>
        <p:nvSpPr>
          <p:cNvPr id="29" name="Oval 28"/>
          <p:cNvSpPr/>
          <p:nvPr/>
        </p:nvSpPr>
        <p:spPr>
          <a:xfrm>
            <a:off x="6172200" y="413766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406908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La forma de facturación cambiará.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Cuando se adapte el modelo de cobro, la factura por uso intensivo puede dispararse.</a:t>
            </a:r>
          </a:p>
        </p:txBody>
      </p:sp>
      <p:sp>
        <p:nvSpPr>
          <p:cNvPr id="31" name="Oval 30"/>
          <p:cNvSpPr/>
          <p:nvPr/>
        </p:nvSpPr>
        <p:spPr>
          <a:xfrm>
            <a:off x="6172200" y="500634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493776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Se depende de un proveedor externo.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Sujeto a cambios de modelo, límites de uso o un servicio retirado.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¿Qué es Florentino?</a:t>
            </a:r>
          </a:p>
        </p:txBody>
      </p:sp>
      <p:pic>
        <p:nvPicPr>
          <p:cNvPr id="8" name="Picture 7" descr="p3_x53_1440x6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417320"/>
            <a:ext cx="8641080" cy="36004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212080"/>
            <a:ext cx="11201400" cy="105156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En definitiva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333A44"/>
                </a:solidFill>
                <a:latin typeface="Calibri"/>
              </a:rPr>
              <a:t>Es una alternativa </a:t>
            </a:r>
            <a:r>
              <a:rPr sz="1450" b="1" i="1">
                <a:solidFill>
                  <a:srgbClr val="003D7C"/>
                </a:solidFill>
                <a:latin typeface="Calibri"/>
              </a:rPr>
              <a:t>open source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que replica el lazo agéntico de Claude Code, ejecutándose por completo en tu máquina.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Florentino, en tres pasos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566160" cy="233172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566160" cy="10972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2148840"/>
            <a:ext cx="676656" cy="676656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130552"/>
            <a:ext cx="676656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0175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03D7C"/>
                </a:solidFill>
                <a:latin typeface="Calibri"/>
              </a:rPr>
              <a:t>Perfila</a:t>
            </a:r>
            <a:r>
              <a:rPr sz="2000" b="0" i="0">
                <a:solidFill>
                  <a:srgbClr val="6E7A8A"/>
                </a:solidFill>
                <a:latin typeface="Calibri"/>
              </a:rPr>
              <a:t> el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5204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Detecta RAM, VRAM y GPU de tu máquina.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566160" cy="233172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566160" cy="10972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36008" y="2148840"/>
            <a:ext cx="676656" cy="676656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8" y="2130552"/>
            <a:ext cx="676656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0175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03D7C"/>
                </a:solidFill>
                <a:latin typeface="Calibri"/>
              </a:rPr>
              <a:t>Recomienda</a:t>
            </a:r>
            <a:r>
              <a:rPr sz="2000" b="0" i="0">
                <a:solidFill>
                  <a:srgbClr val="6E7A8A"/>
                </a:solidFill>
                <a:latin typeface="Calibri"/>
              </a:rPr>
              <a:t> el 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5204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Filtra un catálogo de 86 modelos a los que caben y los puntúa por tarea.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828800"/>
            <a:ext cx="3566160" cy="233172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80" y="1828800"/>
            <a:ext cx="3566160" cy="10972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76488" y="2148840"/>
            <a:ext cx="676656" cy="676656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76488" y="2130552"/>
            <a:ext cx="676656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30175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03D7C"/>
                </a:solidFill>
                <a:latin typeface="Calibri"/>
              </a:rPr>
              <a:t>Ejecuta</a:t>
            </a:r>
            <a:r>
              <a:rPr sz="2000" b="0" i="0">
                <a:solidFill>
                  <a:srgbClr val="6E7A8A"/>
                </a:solidFill>
                <a:latin typeface="Calibri"/>
              </a:rPr>
              <a:t> el agente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35204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Lazo ReAct con 28 herramientas, seguridad y logs estructurados.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434840"/>
            <a:ext cx="11201400" cy="1280160"/>
          </a:xfrm>
          <a:prstGeom prst="roundRect">
            <a:avLst>
              <a:gd name="adj" fmla="val 5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61772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9BE5E"/>
                </a:solidFill>
                <a:latin typeface="Calibri"/>
              </a:rPr>
              <a:t>100% local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DE6F3"/>
                </a:solidFill>
                <a:latin typeface="Calibri"/>
              </a:rPr>
              <a:t>Coste cero por token · privacidad total · funciona offline.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663440"/>
            <a:ext cx="18288" cy="822960"/>
          </a:xfrm>
          <a:prstGeom prst="rect">
            <a:avLst/>
          </a:prstGeom>
          <a:solidFill>
            <a:srgbClr val="3A6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61772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9BE5E"/>
                </a:solidFill>
                <a:latin typeface="Calibri"/>
              </a:rPr>
              <a:t>Backend enchufable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DE6F3"/>
                </a:solidFill>
                <a:latin typeface="Calibri"/>
              </a:rPr>
              <a:t>Ollama, vLLM, LM Studio, OpenAI-compat: cambiar es solo configuración.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Arquitectura: el recorrido de una petición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8027" y="192024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05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8027" y="1920240"/>
            <a:ext cx="23317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5187" y="217627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Usuario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267004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E7A8A"/>
                </a:solidFill>
                <a:latin typeface="Calibri"/>
              </a:rPr>
              <a:t>CLI · Web</a:t>
            </a:r>
          </a:p>
        </p:txBody>
      </p:sp>
      <p:sp>
        <p:nvSpPr>
          <p:cNvPr id="12" name="Chevron 11"/>
          <p:cNvSpPr/>
          <p:nvPr/>
        </p:nvSpPr>
        <p:spPr>
          <a:xfrm>
            <a:off x="3092043" y="2340864"/>
            <a:ext cx="338328" cy="256032"/>
          </a:xfrm>
          <a:prstGeom prst="chevron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12667" y="192024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05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12667" y="1920240"/>
            <a:ext cx="23317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9827" y="217627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9827" y="267004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E7A8A"/>
                </a:solidFill>
                <a:latin typeface="Calibri"/>
              </a:rPr>
              <a:t>defaults &lt; yaml &lt; env &lt; flags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6683" y="2340864"/>
            <a:ext cx="338328" cy="256032"/>
          </a:xfrm>
          <a:prstGeom prst="chevron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47307" y="192024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05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47307" y="1920240"/>
            <a:ext cx="23317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4467" y="217627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Pipeline +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4467" y="267004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E7A8A"/>
                </a:solidFill>
                <a:latin typeface="Calibri"/>
              </a:rPr>
              <a:t>elige el modelo</a:t>
            </a:r>
          </a:p>
        </p:txBody>
      </p:sp>
      <p:sp>
        <p:nvSpPr>
          <p:cNvPr id="22" name="Chevron 21"/>
          <p:cNvSpPr/>
          <p:nvPr/>
        </p:nvSpPr>
        <p:spPr>
          <a:xfrm>
            <a:off x="8761323" y="2340864"/>
            <a:ext cx="338328" cy="256032"/>
          </a:xfrm>
          <a:prstGeom prst="chevron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81947" y="1920240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05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1947" y="1920240"/>
            <a:ext cx="23317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19107" y="2176272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Lazo ReAct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9107" y="2670048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E7A8A"/>
                </a:solidFill>
                <a:latin typeface="Calibri"/>
              </a:rPr>
              <a:t>razona → actúa → verifica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91840"/>
            <a:ext cx="11201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3A44"/>
                </a:solidFill>
                <a:latin typeface="Calibri"/>
              </a:rPr>
              <a:t>El lazo se apoya en dos costuras </a:t>
            </a:r>
            <a:r>
              <a:rPr sz="1350" b="1" i="0">
                <a:solidFill>
                  <a:srgbClr val="003D7C"/>
                </a:solidFill>
                <a:latin typeface="Calibri"/>
              </a:rPr>
              <a:t>enchufables y extensibles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047" y="3703320"/>
            <a:ext cx="5074920" cy="132588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8047" y="3703320"/>
            <a:ext cx="5074920" cy="100584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2367" y="39136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Backends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367" y="43159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Transporte del modelo. Añadir un proveedor = una subclase LLMBackend.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8727" y="3703320"/>
            <a:ext cx="5074920" cy="132588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78727" y="3703320"/>
            <a:ext cx="5074920" cy="100584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53047" y="391363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3D7C"/>
                </a:solidFill>
                <a:latin typeface="Calibri"/>
              </a:rPr>
              <a:t>Herramientas (28)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047" y="43159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parse → dispatch → execute. Añadir una = 4 registros que un test mantiene sincronizados.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25780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E7A8A"/>
                </a:solidFill>
                <a:latin typeface="Calibri"/>
              </a:rPr>
              <a:t>Precedencia clara de configuración y dos puntos de extensión bien definidos: </a:t>
            </a:r>
            <a:r>
              <a:rPr sz="1300" b="1" i="0">
                <a:solidFill>
                  <a:srgbClr val="205DA4"/>
                </a:solidFill>
                <a:latin typeface="Calibri"/>
              </a:rPr>
              <a:t>crecer no obliga a tocar el núcleo.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 dirty="0">
                <a:solidFill>
                  <a:srgbClr val="1A1A1A"/>
                </a:solidFill>
                <a:latin typeface="Calibri"/>
              </a:rPr>
              <a:t>El </a:t>
            </a:r>
            <a:r>
              <a:rPr sz="3300" b="1" i="0" dirty="0" err="1">
                <a:solidFill>
                  <a:srgbClr val="1A1A1A"/>
                </a:solidFill>
                <a:latin typeface="Calibri"/>
              </a:rPr>
              <a:t>agente</a:t>
            </a:r>
            <a:r>
              <a:rPr sz="3300" b="1" i="0" dirty="0">
                <a:solidFill>
                  <a:srgbClr val="1A1A1A"/>
                </a:solidFill>
                <a:latin typeface="Calibri"/>
              </a:rPr>
              <a:t>: un </a:t>
            </a:r>
            <a:r>
              <a:rPr sz="3300" b="1" i="0" dirty="0" err="1">
                <a:solidFill>
                  <a:srgbClr val="1A1A1A"/>
                </a:solidFill>
                <a:latin typeface="Calibri"/>
              </a:rPr>
              <a:t>ecosistema</a:t>
            </a:r>
            <a:r>
              <a:rPr sz="3300" b="1" i="0" dirty="0">
                <a:solidFill>
                  <a:srgbClr val="1A1A1A"/>
                </a:solidFill>
                <a:latin typeface="Calibri"/>
              </a:rPr>
              <a:t>, no solo un </a:t>
            </a:r>
            <a:r>
              <a:rPr sz="3300" b="1" i="0" dirty="0" err="1">
                <a:solidFill>
                  <a:srgbClr val="1A1A1A"/>
                </a:solidFill>
                <a:latin typeface="Calibri"/>
              </a:rPr>
              <a:t>lazo</a:t>
            </a:r>
            <a:endParaRPr sz="33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81B"/>
                </a:solidFill>
                <a:latin typeface="Calibri"/>
              </a:rPr>
              <a:t>CAPACIDADES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080260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52760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28 herramientas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bash, ficheros, git, web, visión, PDF.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692908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624328"/>
            <a:ext cx="52760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Extensible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servidores MCP y skills de workspace.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305556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3236976"/>
            <a:ext cx="52760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Memoria de proyecto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instrucciones persistentes en el prompt.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918204"/>
            <a:ext cx="109728" cy="10972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3849624"/>
            <a:ext cx="52760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Modo multiagente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roles + revisión entre pares con evidencia.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22860" cy="384048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5727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05DA4"/>
                </a:solidFill>
                <a:latin typeface="Calibri"/>
              </a:rPr>
              <a:t>SEGURIDAD — PARTE DEL NÚCLEO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080260"/>
            <a:ext cx="109728" cy="109728"/>
          </a:xfrm>
          <a:prstGeom prst="ellipse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2" y="2011680"/>
            <a:ext cx="45902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Motores de permisos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reglas deny / ask / allow.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692908"/>
            <a:ext cx="109728" cy="109728"/>
          </a:xfrm>
          <a:prstGeom prst="ellipse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48272" y="2624328"/>
            <a:ext cx="45902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Perfiles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estricto · estándar · auditoría.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3305556"/>
            <a:ext cx="109728" cy="109728"/>
          </a:xfrm>
          <a:prstGeom prst="ellipse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48272" y="3236976"/>
            <a:ext cx="45902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03D7C"/>
                </a:solidFill>
                <a:latin typeface="Calibri"/>
              </a:rPr>
              <a:t>Guardas duras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 bloquean bash peligroso.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251960"/>
            <a:ext cx="4846320" cy="1325880"/>
          </a:xfrm>
          <a:prstGeom prst="roundRect">
            <a:avLst>
              <a:gd name="adj" fmla="val 5000"/>
            </a:avLst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4434840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El agente puede tocar tus ficheros y ejecutar comandos.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3D7C"/>
                </a:solidFill>
                <a:latin typeface="Calibri"/>
              </a:rPr>
              <a:t>Por eso la seguridad no es opcional.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Formas de uso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MDL2 Assets"/>
              </a:rPr>
              <a:t>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Terminal</a:t>
            </a:r>
          </a:p>
        </p:txBody>
      </p:sp>
      <p:pic>
        <p:nvPicPr>
          <p:cNvPr id="10" name="Picture 9" descr="p4_x61_760x4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5440680" cy="34290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669280"/>
            <a:ext cx="5440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Para perfiles técnicos</a:t>
            </a:r>
            <a:r>
              <a:rPr sz="1300" b="0" i="0">
                <a:solidFill>
                  <a:srgbClr val="333A44"/>
                </a:solidFill>
                <a:latin typeface="Calibri"/>
              </a:rPr>
              <a:t> — máximo control y flexibilidad.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2834640" cy="502920"/>
          </a:xfrm>
          <a:prstGeom prst="roundRect">
            <a:avLst>
              <a:gd name="adj" fmla="val 50000"/>
            </a:avLst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Web · Florentino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5440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Interfaz web sencilla en el navegador</a:t>
            </a:r>
            <a:r>
              <a:rPr sz="1300" b="0" i="0">
                <a:solidFill>
                  <a:srgbClr val="333A44"/>
                </a:solidFill>
                <a:latin typeface="Calibri"/>
              </a:rPr>
              <a:t>, con todas las funcionalidades de la terminal. Pensada para todo el profesorado e investigadores.</a:t>
            </a:r>
          </a:p>
        </p:txBody>
      </p:sp>
      <p:pic>
        <p:nvPicPr>
          <p:cNvPr id="15" name="Picture 14" descr="p4_x69_1296x9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926080"/>
            <a:ext cx="5257800" cy="3655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Casos de uso (skills)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21122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Revisión de papers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538728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Adaptada a revista y rúbrica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3068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297680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Perfil concreto de revisor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0657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5056632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Citas verificadas del artículo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0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18288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697480"/>
            <a:ext cx="21122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Creación de slides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657600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0" y="35478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8" y="3538728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 partir de notas o documentos</a:t>
            </a:r>
          </a:p>
        </p:txBody>
      </p:sp>
      <p:sp>
        <p:nvSpPr>
          <p:cNvPr id="30" name="Oval 29"/>
          <p:cNvSpPr/>
          <p:nvPr/>
        </p:nvSpPr>
        <p:spPr>
          <a:xfrm>
            <a:off x="3657600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43068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4297680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Estructura de la narrativa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0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8" y="5056632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Genera un borrador editable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537959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59" y="18288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2697480"/>
            <a:ext cx="21122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Corrección de exámenes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5624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537959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59" y="35478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3448" y="3538728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Apoyo con rúbricas</a:t>
            </a:r>
          </a:p>
        </p:txBody>
      </p:sp>
      <p:sp>
        <p:nvSpPr>
          <p:cNvPr id="44" name="Oval 43"/>
          <p:cNvSpPr/>
          <p:nvPr/>
        </p:nvSpPr>
        <p:spPr>
          <a:xfrm>
            <a:off x="6537959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37959" y="43068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3448" y="4297680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Revisión de respuestas abiertas</a:t>
            </a:r>
          </a:p>
        </p:txBody>
      </p:sp>
      <p:sp>
        <p:nvSpPr>
          <p:cNvPr id="47" name="Oval 46"/>
          <p:cNvSpPr/>
          <p:nvPr/>
        </p:nvSpPr>
        <p:spPr>
          <a:xfrm>
            <a:off x="6537959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59" y="50657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5056632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Preparación de feedback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1554480"/>
            <a:ext cx="2615184" cy="434340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418320" y="1847088"/>
            <a:ext cx="658368" cy="658368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18320" y="18288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MDL2 Assets"/>
              </a:rPr>
              <a:t>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2697480"/>
            <a:ext cx="211226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Lectura de documentos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36608" y="3383280"/>
            <a:ext cx="502920" cy="41148"/>
          </a:xfrm>
          <a:prstGeom prst="rect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418320" y="3566160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0" y="35478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93808" y="3538728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Resume PDFs largos</a:t>
            </a:r>
          </a:p>
        </p:txBody>
      </p:sp>
      <p:sp>
        <p:nvSpPr>
          <p:cNvPr id="58" name="Oval 57"/>
          <p:cNvSpPr/>
          <p:nvPr/>
        </p:nvSpPr>
        <p:spPr>
          <a:xfrm>
            <a:off x="9418320" y="4325112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18320" y="43068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3808" y="4297680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Extrae ideas clave</a:t>
            </a:r>
          </a:p>
        </p:txBody>
      </p:sp>
      <p:sp>
        <p:nvSpPr>
          <p:cNvPr id="61" name="Oval 60"/>
          <p:cNvSpPr/>
          <p:nvPr/>
        </p:nvSpPr>
        <p:spPr>
          <a:xfrm>
            <a:off x="9418320" y="5084064"/>
            <a:ext cx="347472" cy="347472"/>
          </a:xfrm>
          <a:prstGeom prst="ellipse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18320" y="50657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3D7C"/>
                </a:solidFill>
                <a:latin typeface="Calibri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93808" y="5056632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A44"/>
                </a:solidFill>
                <a:latin typeface="Calibri"/>
              </a:rPr>
              <a:t>Genera preguntas tipo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Usar este sistema implica un tradeoff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074920" cy="4206240"/>
          </a:xfrm>
          <a:prstGeom prst="roundRect">
            <a:avLst>
              <a:gd name="adj" fmla="val 4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6E7A8A"/>
                </a:solidFill>
                <a:latin typeface="Calibri"/>
              </a:rPr>
              <a:t>Lo que se cede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C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313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8600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Potencia bruta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42615"/>
            <a:ext cx="3794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Un modelo local (7B–32B) razona peor que un frontier de la nube.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C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2900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Techo de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85615"/>
            <a:ext cx="3794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Lo que ejecutas depende de tu RAM/GPU: equipos modestos, modelos más pequeños.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C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599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7200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Mantenimiento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28616"/>
            <a:ext cx="3794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3A44"/>
                </a:solidFill>
                <a:latin typeface="Calibri"/>
              </a:rPr>
              <a:t>Hay que preparar y mantener el entorno; una web no requiere nada.</a:t>
            </a:r>
          </a:p>
        </p:txBody>
      </p:sp>
      <p:sp>
        <p:nvSpPr>
          <p:cNvPr id="22" name="Oval 21"/>
          <p:cNvSpPr/>
          <p:nvPr/>
        </p:nvSpPr>
        <p:spPr>
          <a:xfrm>
            <a:off x="5779008" y="3429000"/>
            <a:ext cx="640080" cy="640080"/>
          </a:xfrm>
          <a:prstGeom prst="ellipse">
            <a:avLst/>
          </a:prstGeom>
          <a:solidFill>
            <a:srgbClr val="E8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79008" y="3410712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1600200"/>
            <a:ext cx="5074920" cy="4206240"/>
          </a:xfrm>
          <a:prstGeom prst="roundRect">
            <a:avLst>
              <a:gd name="adj" fmla="val 4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178308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9BE5E"/>
                </a:solidFill>
                <a:latin typeface="Calibri"/>
              </a:rPr>
              <a:t>Lo que se gana</a:t>
            </a:r>
          </a:p>
        </p:txBody>
      </p:sp>
      <p:sp>
        <p:nvSpPr>
          <p:cNvPr id="26" name="Oval 25"/>
          <p:cNvSpPr/>
          <p:nvPr/>
        </p:nvSpPr>
        <p:spPr>
          <a:xfrm>
            <a:off x="6949440" y="2331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2313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5DA4"/>
                </a:solidFill>
                <a:latin typeface="Segoe MDL2 Assets"/>
              </a:rPr>
              <a:t>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28600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Privacidad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642615"/>
            <a:ext cx="3794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6F3"/>
                </a:solidFill>
                <a:latin typeface="Calibri"/>
              </a:rPr>
              <a:t>Tus prompts, ficheros y datos nunca salen de la máquina.</a:t>
            </a:r>
          </a:p>
        </p:txBody>
      </p:sp>
      <p:sp>
        <p:nvSpPr>
          <p:cNvPr id="30" name="Oval 29"/>
          <p:cNvSpPr/>
          <p:nvPr/>
        </p:nvSpPr>
        <p:spPr>
          <a:xfrm>
            <a:off x="6949440" y="3474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0" y="3456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5DA4"/>
                </a:solidFill>
                <a:latin typeface="Segoe MDL2 Assets"/>
              </a:rPr>
              <a:t>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42900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Independencia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785615"/>
            <a:ext cx="3794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6F3"/>
                </a:solidFill>
                <a:latin typeface="Calibri"/>
              </a:rPr>
              <a:t>Sin API key, sin suscripción, sin límites, sin lock-in. Funciona offline.</a:t>
            </a:r>
          </a:p>
        </p:txBody>
      </p:sp>
      <p:sp>
        <p:nvSpPr>
          <p:cNvPr id="34" name="Oval 33"/>
          <p:cNvSpPr/>
          <p:nvPr/>
        </p:nvSpPr>
        <p:spPr>
          <a:xfrm>
            <a:off x="6949440" y="46177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49440" y="45994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05DA4"/>
                </a:solidFill>
                <a:latin typeface="Segoe MDL2 Assets"/>
              </a:rPr>
              <a:t>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57200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Confianza verificable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928616"/>
            <a:ext cx="3794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6F3"/>
                </a:solidFill>
                <a:latin typeface="Calibri"/>
              </a:rPr>
              <a:t>Código abierto y comprobaciones que hacen fiable incluso a un modelo modesto.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81B"/>
                </a:solidFill>
                <a:latin typeface="Calibri"/>
              </a:rPr>
              <a:t>LA CONTRIBUCIÓN — CONFIANZA VERIFICABLE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Cómo hacemos fiable a un modelo modesto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333A44"/>
                </a:solidFill>
                <a:latin typeface="Calibri"/>
              </a:rPr>
              <a:t>El estado del arte </a:t>
            </a:r>
            <a:r>
              <a:rPr sz="1450" b="1" i="0">
                <a:solidFill>
                  <a:srgbClr val="003D7C"/>
                </a:solidFill>
                <a:latin typeface="Calibri"/>
              </a:rPr>
              <a:t>confunde el harness con el modelo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. Florentino </a:t>
            </a:r>
            <a:r>
              <a:rPr sz="1450" b="1" i="0">
                <a:solidFill>
                  <a:srgbClr val="003D7C"/>
                </a:solidFill>
                <a:latin typeface="Calibri"/>
              </a:rPr>
              <a:t>fija el modelo y varía el andamiaje</a:t>
            </a:r>
            <a:r>
              <a:rPr sz="1450" b="0" i="0">
                <a:solidFill>
                  <a:srgbClr val="333A44"/>
                </a:solidFill>
                <a:latin typeface="Calibri"/>
              </a:rPr>
              <a:t> para aislar de dónde viene —o se pierde— la fiabilidad.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517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651760"/>
            <a:ext cx="3566160" cy="118872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30632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D7C"/>
                </a:solidFill>
                <a:latin typeface="Calibri"/>
              </a:rPr>
              <a:t>Medir el éxito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39"/>
            <a:ext cx="30632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No solo “¿terminó?”, sino los éxitos falsos: dice que acabó sin poder demostrarlo.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6517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5112" y="2651760"/>
            <a:ext cx="3566160" cy="118872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1" y="2971800"/>
            <a:ext cx="30632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D7C"/>
                </a:solidFill>
                <a:latin typeface="Calibri"/>
              </a:rPr>
              <a:t>Atribución de fallo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3520439"/>
            <a:ext cx="30632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Separar si falló el modelo, el harness o el entorno.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651760"/>
            <a:ext cx="3566160" cy="2148840"/>
          </a:xfrm>
          <a:prstGeom prst="roundRect">
            <a:avLst>
              <a:gd name="adj" fmla="val 5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2651760"/>
            <a:ext cx="3566160" cy="118872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21624" y="2971800"/>
            <a:ext cx="30632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3D7C"/>
                </a:solidFill>
                <a:latin typeface="Calibri"/>
              </a:rPr>
              <a:t>Taxonomía de fallos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3520439"/>
            <a:ext cx="30632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A44"/>
                </a:solidFill>
                <a:latin typeface="Calibri"/>
              </a:rPr>
              <a:t>Con un caso propio: tool_trace_failed — resultado correcto pero improbable de demostrar.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66360"/>
            <a:ext cx="11201400" cy="96012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BE5E"/>
                </a:solidFill>
                <a:latin typeface="Calibri"/>
              </a:rPr>
              <a:t>Es honesto: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la contribución es la medición y el hallazgo, no reclamar una capacidad que el hardware de consumo no puede dar.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E7A8A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libri"/>
              </a:rPr>
              <a:t>Honestidad: lo local tiene un techo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11201400" cy="8412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875">
            <a:solidFill>
              <a:srgbClr val="C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5613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534B"/>
                </a:solidFill>
                <a:latin typeface="Calibri"/>
              </a:rPr>
              <a:t>Causa raíz — techo de capacidad: </a:t>
            </a:r>
            <a:r>
              <a:rPr sz="1500" b="0" i="0">
                <a:solidFill>
                  <a:srgbClr val="333A44"/>
                </a:solidFill>
                <a:latin typeface="Calibri"/>
              </a:rPr>
              <a:t>lo que cabe en hardware de consumo (1B–32B) es cualitativamente inferior a un frontier de la nube.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5440680" cy="2697480"/>
          </a:xfrm>
          <a:prstGeom prst="roundRect">
            <a:avLst>
              <a:gd name="adj" fmla="val 4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5440680" cy="502920"/>
          </a:xfrm>
          <a:prstGeom prst="rect">
            <a:avLst/>
          </a:prstGeom>
          <a:solidFill>
            <a:srgbClr val="E2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INHERENTE AL ENFOQUE LOCAL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451860"/>
            <a:ext cx="109728" cy="109728"/>
          </a:xfrm>
          <a:prstGeom prst="ellipse">
            <a:avLst/>
          </a:prstGeom>
          <a:solidFill>
            <a:srgbClr val="E2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3383280"/>
            <a:ext cx="46817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Necesita “muletas”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 ~10 guardarraíles porque el modelo se atasca.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27932"/>
            <a:ext cx="109728" cy="109728"/>
          </a:xfrm>
          <a:prstGeom prst="ellipse">
            <a:avLst/>
          </a:prstGeom>
          <a:solidFill>
            <a:srgbClr val="E2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959352"/>
            <a:ext cx="46817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Sin árbitro fuerte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 el juez por defecto es el mismo modelo débil.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604004"/>
            <a:ext cx="109728" cy="109728"/>
          </a:xfrm>
          <a:prstGeom prst="ellipse">
            <a:avLst/>
          </a:prstGeom>
          <a:solidFill>
            <a:srgbClr val="E2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4535424"/>
            <a:ext cx="468172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Punto único de fallo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 si el local no puede, no hay a quién escalar.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697480"/>
            <a:ext cx="5440680" cy="2697480"/>
          </a:xfrm>
          <a:prstGeom prst="roundRect">
            <a:avLst>
              <a:gd name="adj" fmla="val 4000"/>
            </a:avLst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2697480"/>
            <a:ext cx="5440680" cy="502920"/>
          </a:xfrm>
          <a:prstGeom prst="rect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69748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SOLUCIONABLE — YA EN MARCHA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3451860"/>
            <a:ext cx="109728" cy="109728"/>
          </a:xfrm>
          <a:prstGeom prst="ellipse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85432" y="3383280"/>
            <a:ext cx="46360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Telemetría del banco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 arreglada en la condición primaria.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4027932"/>
            <a:ext cx="109728" cy="109728"/>
          </a:xfrm>
          <a:prstGeom prst="ellipse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85432" y="3959352"/>
            <a:ext cx="46360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Intervalos de confianza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 bootstrap CIs al 95%, reproducibles.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0" y="4604004"/>
            <a:ext cx="109728" cy="109728"/>
          </a:xfrm>
          <a:prstGeom prst="ellipse">
            <a:avLst/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85432" y="4535424"/>
            <a:ext cx="463600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Chequeo pre-vuelo</a:t>
            </a:r>
            <a:r>
              <a:rPr sz="1350" b="0" i="0">
                <a:solidFill>
                  <a:srgbClr val="333A44"/>
                </a:solidFill>
                <a:latin typeface="Calibri"/>
              </a:rPr>
              <a:t>  evita fallos crípticos por un modelo mal escrito.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3212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E7A8A"/>
                </a:solidFill>
                <a:latin typeface="Calibri"/>
              </a:rPr>
              <a:t>La fortaleza es distinguir lo que se </a:t>
            </a:r>
            <a:r>
              <a:rPr sz="1350" b="1" i="0">
                <a:solidFill>
                  <a:srgbClr val="E28A2C"/>
                </a:solidFill>
                <a:latin typeface="Calibri"/>
              </a:rPr>
              <a:t>mitiga</a:t>
            </a:r>
            <a:r>
              <a:rPr sz="1350" b="0" i="0">
                <a:solidFill>
                  <a:srgbClr val="6E7A8A"/>
                </a:solidFill>
                <a:latin typeface="Calibri"/>
              </a:rPr>
              <a:t> de lo que se </a:t>
            </a:r>
            <a:r>
              <a:rPr sz="1350" b="1" i="0">
                <a:solidFill>
                  <a:srgbClr val="205DA4"/>
                </a:solidFill>
                <a:latin typeface="Calibri"/>
              </a:rPr>
              <a:t>arregla</a:t>
            </a:r>
            <a:r>
              <a:rPr sz="1350" b="0" i="0">
                <a:solidFill>
                  <a:srgbClr val="6E7A8A"/>
                </a:solidFill>
                <a:latin typeface="Calibri"/>
              </a:rPr>
              <a:t> — y no prometer lo primero.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377440" y="3383280"/>
            <a:ext cx="5120640" cy="5120640"/>
          </a:xfrm>
          <a:prstGeom prst="ellipse">
            <a:avLst/>
          </a:prstGeom>
          <a:solidFill>
            <a:srgbClr val="F1DD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-1280160"/>
            <a:ext cx="3063240" cy="3063240"/>
          </a:xfrm>
          <a:prstGeom prst="ellipse">
            <a:avLst/>
          </a:prstGeom>
          <a:solidFill>
            <a:srgbClr val="CF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1_x17_262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274320"/>
            <a:ext cx="1078992" cy="893669"/>
          </a:xfrm>
          <a:prstGeom prst="rect">
            <a:avLst/>
          </a:prstGeom>
        </p:spPr>
      </p:pic>
      <p:pic>
        <p:nvPicPr>
          <p:cNvPr id="6" name="Picture 5" descr="p7_x132_956x5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77240"/>
            <a:ext cx="3886200" cy="21870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4612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1">
                <a:solidFill>
                  <a:srgbClr val="003D7C"/>
                </a:solidFill>
                <a:latin typeface="Cambria"/>
              </a:rPr>
              <a:t>Un asistente que trabaja para ti, sin que tus datos salgan de casa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887" y="429768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3807" y="4297680"/>
            <a:ext cx="822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Segoe MDL2 Assets"/>
              </a:rPr>
              <a:t>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429768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Privado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4207" y="429768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07127" y="4297680"/>
            <a:ext cx="822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Segoe MDL2 Assets"/>
              </a:rPr>
              <a:t>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8647" y="429768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Independiente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527" y="429768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205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10447" y="4297680"/>
            <a:ext cx="8229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FFFFFF"/>
                </a:solidFill>
                <a:latin typeface="Segoe MDL2 Assets"/>
              </a:rPr>
              <a:t>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1967" y="429768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Fiable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E7A8A"/>
                </a:solidFill>
                <a:latin typeface="Calibri"/>
              </a:rPr>
              <a:t>Cátedra de Industria Inteligente</a:t>
            </a:r>
            <a:r>
              <a:rPr sz="1000" b="0" i="0">
                <a:solidFill>
                  <a:srgbClr val="6E7A8A"/>
                </a:solidFill>
                <a:latin typeface="Calibri"/>
              </a:rPr>
              <a:t>   ·   Comillas ICAI   ·   CI2LAB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1119</Words>
  <Application>Microsoft Office PowerPoint</Application>
  <PresentationFormat>Panorámica</PresentationFormat>
  <Paragraphs>176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Segoe MDL2 Assets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Clara Lucena Vicente</cp:lastModifiedBy>
  <cp:revision>2</cp:revision>
  <dcterms:created xsi:type="dcterms:W3CDTF">2013-01-27T09:14:16Z</dcterms:created>
  <dcterms:modified xsi:type="dcterms:W3CDTF">2026-07-14T14:22:39Z</dcterms:modified>
  <cp:category/>
</cp:coreProperties>
</file>